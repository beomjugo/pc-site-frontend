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8" r:id="rId4"/>
    <p:sldId id="267" r:id="rId5"/>
    <p:sldId id="259" r:id="rId6"/>
    <p:sldId id="268" r:id="rId7"/>
    <p:sldId id="269" r:id="rId8"/>
    <p:sldId id="270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696" y="84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8FDF5-D4C5-4F27-9BA0-8795C6C86F7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058D0-A86A-4AC4-9E56-F6BFD9D0D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30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6.png"/><Relationship Id="rId1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image" Target="../media/image22.png"/><Relationship Id="rId17" Type="http://schemas.openxmlformats.org/officeDocument/2006/relationships/image" Target="../media/image25.png"/><Relationship Id="rId2" Type="http://schemas.openxmlformats.org/officeDocument/2006/relationships/image" Target="../media/image1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7.png"/><Relationship Id="rId5" Type="http://schemas.openxmlformats.org/officeDocument/2006/relationships/image" Target="../media/image20.png"/><Relationship Id="rId1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6.png"/><Relationship Id="rId18" Type="http://schemas.openxmlformats.org/officeDocument/2006/relationships/image" Target="../media/image40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14.png"/><Relationship Id="rId17" Type="http://schemas.openxmlformats.org/officeDocument/2006/relationships/image" Target="../media/image39.png"/><Relationship Id="rId2" Type="http://schemas.openxmlformats.org/officeDocument/2006/relationships/image" Target="../media/image27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5" Type="http://schemas.openxmlformats.org/officeDocument/2006/relationships/image" Target="../media/image37.png"/><Relationship Id="rId10" Type="http://schemas.openxmlformats.org/officeDocument/2006/relationships/image" Target="../media/image34.png"/><Relationship Id="rId19" Type="http://schemas.openxmlformats.org/officeDocument/2006/relationships/image" Target="../media/image41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4.png"/><Relationship Id="rId2" Type="http://schemas.openxmlformats.org/officeDocument/2006/relationships/image" Target="../media/image42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47.png"/><Relationship Id="rId10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1.png"/><Relationship Id="rId3" Type="http://schemas.openxmlformats.org/officeDocument/2006/relationships/image" Target="../media/image50.png"/><Relationship Id="rId7" Type="http://schemas.openxmlformats.org/officeDocument/2006/relationships/image" Target="../media/image34.png"/><Relationship Id="rId12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15.png"/><Relationship Id="rId5" Type="http://schemas.openxmlformats.org/officeDocument/2006/relationships/image" Target="../media/image32.png"/><Relationship Id="rId10" Type="http://schemas.openxmlformats.org/officeDocument/2006/relationships/image" Target="../media/image51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image" Target="../media/image34.png"/><Relationship Id="rId12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15.png"/><Relationship Id="rId5" Type="http://schemas.openxmlformats.org/officeDocument/2006/relationships/image" Target="../media/image32.png"/><Relationship Id="rId10" Type="http://schemas.openxmlformats.org/officeDocument/2006/relationships/image" Target="../media/image51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34.png"/><Relationship Id="rId12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15.png"/><Relationship Id="rId5" Type="http://schemas.openxmlformats.org/officeDocument/2006/relationships/image" Target="../media/image32.png"/><Relationship Id="rId10" Type="http://schemas.openxmlformats.org/officeDocument/2006/relationships/image" Target="../media/image51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3429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444500"/>
            <a:ext cx="292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533400"/>
            <a:ext cx="292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53000" y="9677400"/>
            <a:ext cx="3302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9715500"/>
            <a:ext cx="330200" cy="27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0" y="2628900"/>
            <a:ext cx="13208000" cy="2032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857500" y="2590800"/>
            <a:ext cx="12573000" cy="2019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11300" b="0" i="0" u="none" strike="noStrike" spc="-300">
                <a:solidFill>
                  <a:srgbClr val="2E2E2E"/>
                </a:solidFill>
                <a:latin typeface="Mattone Bold"/>
              </a:rPr>
              <a:t>GoodPricePC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0" y="4953000"/>
            <a:ext cx="10096500" cy="2032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6070600" y="4953000"/>
            <a:ext cx="6146800" cy="2019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4100" b="0" i="0" u="none" strike="noStrike" spc="-3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고범주</a:t>
            </a:r>
            <a:endParaRPr lang="en-US" altLang="ko-KR" sz="4100" b="0" i="0" u="none" strike="noStrike" spc="-300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68200" y="5486400"/>
            <a:ext cx="1028700" cy="1028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200" y="5486400"/>
            <a:ext cx="1028700" cy="1028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6900" y="381000"/>
            <a:ext cx="139700" cy="139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4300" y="381000"/>
            <a:ext cx="139700" cy="1397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612900" y="304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505200" y="304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62600" y="304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PC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89000" y="9779000"/>
            <a:ext cx="139700" cy="139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33700" y="9779000"/>
            <a:ext cx="139700" cy="1397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20650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573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0147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330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4318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520700"/>
            <a:ext cx="292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9702800"/>
            <a:ext cx="330200" cy="27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711700" y="1460500"/>
            <a:ext cx="8864600" cy="1435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080000" y="1612900"/>
            <a:ext cx="8140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6000" b="0" i="0" u="none" strike="noStrike" spc="-2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제작 의도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70800" y="304800"/>
            <a:ext cx="29591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74700"/>
              </a:lnSpc>
              <a:defRPr/>
            </a:pPr>
            <a:r>
              <a:rPr lang="en-US" altLang="ko-KR" sz="1500" b="0" i="0" u="none" strike="noStrike" dirty="0">
                <a:solidFill>
                  <a:srgbClr val="2E2E2E"/>
                </a:solidFill>
                <a:latin typeface="Geologica Roman Medium"/>
              </a:rPr>
              <a:t>Good Price PC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6600" y="9779000"/>
            <a:ext cx="139700" cy="139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4000" y="9779000"/>
            <a:ext cx="139700" cy="139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27100" y="4572000"/>
            <a:ext cx="16446500" cy="25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8453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376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950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P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54200" y="3162300"/>
            <a:ext cx="145669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컴알못도 쉽게 알아볼 수 있는 컴퓨터 견적 사이트는 없는 걸까</a:t>
            </a: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?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260600" y="4267200"/>
            <a:ext cx="609600" cy="609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349500" y="43815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1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549900" y="4267200"/>
            <a:ext cx="609600" cy="6096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38800" y="43815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2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839200" y="4267200"/>
            <a:ext cx="609600" cy="6096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8928100" y="43815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3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2128500" y="4267200"/>
            <a:ext cx="609600" cy="609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2217400" y="43815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4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5405100" y="4267200"/>
            <a:ext cx="609600" cy="609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27100" y="5791200"/>
            <a:ext cx="16446500" cy="25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5400000">
            <a:off x="5702300" y="7594600"/>
            <a:ext cx="3594100" cy="25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5400000">
            <a:off x="2425700" y="7594600"/>
            <a:ext cx="3594100" cy="25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5400000">
            <a:off x="8991600" y="7594600"/>
            <a:ext cx="3594100" cy="25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5400000">
            <a:off x="12280900" y="7594600"/>
            <a:ext cx="3594100" cy="25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127500" y="5092700"/>
            <a:ext cx="165100" cy="266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7416800" y="5092700"/>
            <a:ext cx="165100" cy="2667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706100" y="5092700"/>
            <a:ext cx="165100" cy="266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3982700" y="5092700"/>
            <a:ext cx="165100" cy="2667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5494000" y="43815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95400" y="5041900"/>
            <a:ext cx="2565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문제 발생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72000" y="5041900"/>
            <a:ext cx="2565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원인 분석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861300" y="5041900"/>
            <a:ext cx="2565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기획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37900" y="5041900"/>
            <a:ext cx="2565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기능 추가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427200" y="5041900"/>
            <a:ext cx="2565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2000" b="0" i="0" u="none" strike="noStrike" spc="-1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구현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95400" y="6159500"/>
            <a:ext cx="2565400" cy="101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너무 많은 제품들과 빈약한 설명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95400" y="7480300"/>
            <a:ext cx="25527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기존 사이트들은 컴퓨터에 대한 지식이 없는 사람이 구매하기에 불편함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84700" y="6337300"/>
            <a:ext cx="2565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같은 가격에 좋은 성능을 가진 제품을 찾을 수 없을까</a:t>
            </a:r>
            <a:r>
              <a:rPr lang="en-US" altLang="ko-KR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?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584700" y="7480300"/>
            <a:ext cx="25527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우리나라 사이트에는 도입되지 않았지만 해외에는 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Light"/>
              </a:rPr>
              <a:t>PassMark </a:t>
            </a: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점수와 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Light"/>
              </a:rPr>
              <a:t>3DMark</a:t>
            </a: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 점수를 이용한 사이트가 존재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861300" y="6159500"/>
            <a:ext cx="2565400" cy="101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가성비와 성능 정렬을 제공하는 사이트를 만들자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861300" y="7480300"/>
            <a:ext cx="25527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Light"/>
              </a:rPr>
              <a:t>PassMark</a:t>
            </a: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와 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Light"/>
              </a:rPr>
              <a:t>3DMark</a:t>
            </a: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 점수를 가격과 종합하여 가성비순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Light"/>
              </a:rPr>
              <a:t>,</a:t>
            </a: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 성능순 정렬 기능 제공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150600" y="6159500"/>
            <a:ext cx="2565400" cy="101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en-US" altLang="ko-KR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AI</a:t>
            </a:r>
            <a:r>
              <a:rPr lang="ko-KR" altLang="en-US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 컴알못을 위하 제품을 설명해주는 것은 어떨까</a:t>
            </a:r>
            <a:r>
              <a:rPr lang="en-US" altLang="ko-KR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?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150600" y="7620000"/>
            <a:ext cx="255270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16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제품별 한줄평 기능 제공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 sz="16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사용자의 예산과 용도에 따른 컴퓨터 견적 추천 기능 제공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427200" y="6159500"/>
            <a:ext cx="2565400" cy="101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0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컴알못을 위한 컴퓨터 견적 사이트 완성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427200" y="7480300"/>
            <a:ext cx="25527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1600" b="0" i="0" u="none" strike="noStrike">
                <a:solidFill>
                  <a:srgbClr val="2E2E2E"/>
                </a:solidFill>
                <a:latin typeface="Geologica Roman Light"/>
              </a:rPr>
              <a:t>지식이 없는 사람들도 쉽게 접근할 수 있는 사용자 친화적 견적 사이트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74879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0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2501900" y="6858000"/>
            <a:ext cx="5067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6604000" y="6858000"/>
            <a:ext cx="5067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0718800" y="6858000"/>
            <a:ext cx="50673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4330700"/>
            <a:ext cx="164465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0800000">
            <a:off x="317500" y="330200"/>
            <a:ext cx="2921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0800000">
            <a:off x="317500" y="431800"/>
            <a:ext cx="2921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0800000">
            <a:off x="317500" y="520700"/>
            <a:ext cx="2921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500" y="9702800"/>
            <a:ext cx="330200" cy="279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1700" y="1460500"/>
            <a:ext cx="8864600" cy="14351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5080000" y="1612900"/>
            <a:ext cx="8140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6000" b="0" i="0" u="none" strike="noStrike" spc="-2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독창성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70800" y="304800"/>
            <a:ext cx="29591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74700"/>
              </a:lnSpc>
              <a:defRPr/>
            </a:pPr>
            <a:r>
              <a:rPr lang="en-US" altLang="ko-KR" sz="1500" b="0" i="0" u="none" strike="noStrike">
                <a:solidFill>
                  <a:srgbClr val="2E2E2E"/>
                </a:solidFill>
                <a:latin typeface="Geologica Roman Medium"/>
              </a:rPr>
              <a:t>Good Price PC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54200" y="3162300"/>
            <a:ext cx="145669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컴알못에겐 너무나 복잡한 컴퓨터 부품의 세계</a:t>
            </a:r>
            <a:endParaRPr lang="en-US" altLang="ko-KR" sz="2500" b="0" i="0" u="none" strike="noStrike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2667000" y="4025900"/>
            <a:ext cx="609600" cy="6096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7559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1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781800" y="4025900"/>
            <a:ext cx="609600" cy="6096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68707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2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0896600" y="4025900"/>
            <a:ext cx="609600" cy="609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09855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3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5011400" y="4025900"/>
            <a:ext cx="609600" cy="609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505700"/>
            <a:ext cx="16446500" cy="25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50876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4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600" y="9779000"/>
            <a:ext cx="139700" cy="139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4000" y="9779000"/>
            <a:ext cx="139700" cy="1397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68453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376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950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P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4600" y="7899400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어떤 게 좋은 제품이지</a:t>
            </a: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?</a:t>
            </a: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573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가격과 인기순만으로는 알 수 없는 제품들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59400" y="7899400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가격이 매번 다르잖아</a:t>
            </a: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721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매일 달라지는 가격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74200" y="7899400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내가 써야 될 제품이 뭐지</a:t>
            </a: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?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742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용도별로 구분되어 있지 않은 제품들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589000" y="7899400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어떤 부품들로 구성해야 하는 거야</a:t>
            </a: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?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5890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초심자에겐 어려운 견적 구상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4879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0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4</a:t>
            </a: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74592" y="4737100"/>
            <a:ext cx="3813465" cy="2410086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5117995" y="4610100"/>
            <a:ext cx="3937208" cy="2494914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9240988" y="4876800"/>
            <a:ext cx="3941612" cy="2013129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4881348" y="4730634"/>
            <a:ext cx="850652" cy="26799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501900" y="6858000"/>
            <a:ext cx="5067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6604000" y="6858000"/>
            <a:ext cx="5067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10718800" y="6858000"/>
            <a:ext cx="50673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27100" y="4330700"/>
            <a:ext cx="164465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0" y="0"/>
            <a:ext cx="0" cy="0"/>
            <a:chOff x="0" y="0"/>
            <a:chExt cx="914400" cy="91440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0800000">
            <a:off x="317500" y="330200"/>
            <a:ext cx="2921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0800000">
            <a:off x="317500" y="431800"/>
            <a:ext cx="2921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0800000">
            <a:off x="317500" y="520700"/>
            <a:ext cx="2921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17500" y="9702800"/>
            <a:ext cx="330200" cy="279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 rot="162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 rot="162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711700" y="1460500"/>
            <a:ext cx="8864600" cy="14351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5080000" y="1612900"/>
            <a:ext cx="8140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6000" b="0" i="0" u="none" strike="noStrike" spc="-2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독창성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70800" y="304800"/>
            <a:ext cx="29591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74700"/>
              </a:lnSpc>
              <a:defRPr/>
            </a:pPr>
            <a:r>
              <a:rPr lang="en-US" altLang="ko-KR" sz="1500" b="0" i="0" u="none" strike="noStrike">
                <a:solidFill>
                  <a:srgbClr val="2E2E2E"/>
                </a:solidFill>
                <a:latin typeface="Geologica Roman Medium"/>
              </a:rPr>
              <a:t>Good Price PC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54200" y="3162300"/>
            <a:ext cx="145669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25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Good Price PC</a:t>
            </a:r>
            <a:r>
              <a:rPr lang="ko-KR" altLang="en-US" sz="25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에서는 </a:t>
            </a:r>
            <a:r>
              <a:rPr lang="ko-KR" altLang="en-US" sz="25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컴알못도</a:t>
            </a:r>
            <a:r>
              <a:rPr lang="ko-KR" altLang="en-US" sz="25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견적을 쉽게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2667000" y="4025900"/>
            <a:ext cx="609600" cy="6096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7559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1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781800" y="4025900"/>
            <a:ext cx="609600" cy="6096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68707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2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0896600" y="4025900"/>
            <a:ext cx="609600" cy="609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09855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3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5011400" y="4025900"/>
            <a:ext cx="609600" cy="609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505700"/>
            <a:ext cx="16446500" cy="25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5087600" y="4152900"/>
            <a:ext cx="431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en-US" sz="2000" b="0" i="0" u="none" strike="noStrike" spc="-100">
                <a:solidFill>
                  <a:srgbClr val="2E2E2E"/>
                </a:solidFill>
                <a:latin typeface="Mattone Bold"/>
              </a:rPr>
              <a:t>4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56600" y="9779000"/>
            <a:ext cx="139700" cy="139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414000" y="9779000"/>
            <a:ext cx="139700" cy="1397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68453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376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950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P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4600" y="7899400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가성비순 부품 정렬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573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14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가격과 </a:t>
            </a:r>
            <a:r>
              <a:rPr lang="ko-KR" altLang="en-US" sz="1400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벤치마크 </a:t>
            </a:r>
            <a:r>
              <a:rPr lang="ko-KR" altLang="en-US" sz="14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점수를 </a:t>
            </a:r>
            <a:r>
              <a:rPr lang="ko-KR" altLang="en-US" sz="1400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활용</a:t>
            </a:r>
            <a:r>
              <a:rPr lang="ko-KR" altLang="en-US" sz="14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하여 가성비순 정렬 기능 제공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91150" y="7751916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 변동 추이 및 최신 부품 확인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721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ko-KR" altLang="en-US" sz="14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매일 가격 정보와 최신부품들에 대한 정보가 매일 갱신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74200" y="7899400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AI </a:t>
            </a: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한 줄 평가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742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GPT</a:t>
            </a:r>
            <a:r>
              <a:rPr lang="ko-KR" altLang="en-US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를 이용한 제품별 </a:t>
            </a:r>
            <a:r>
              <a:rPr lang="en-US" altLang="ko-KR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AI </a:t>
            </a:r>
            <a:r>
              <a:rPr lang="ko-KR" altLang="en-US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한 줄 평 기능 제공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589000" y="7899400"/>
            <a:ext cx="34544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맞춤형 </a:t>
            </a: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AI </a:t>
            </a: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추천 기능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589000" y="8686800"/>
            <a:ext cx="3441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GPT</a:t>
            </a:r>
            <a:r>
              <a:rPr lang="ko-KR" altLang="en-US" sz="14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를 이용하여 사용자의 목적과 예산에 따라 맞춤형 부품 추천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4879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0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5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BB537B6F-E986-D9B0-FE05-C22FC4EB47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1" y="4776856"/>
            <a:ext cx="3981445" cy="252564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C1D2764-4019-285D-C220-757750C216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50350" y="4772604"/>
            <a:ext cx="4114801" cy="200801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12F793C4-CFD6-78AE-704F-F99E6443DF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31300" y="6755497"/>
            <a:ext cx="4133851" cy="547707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1CB59957-E9BB-09B8-C63A-F4FA3A6EC2A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90552" y="4772604"/>
            <a:ext cx="4044948" cy="2471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1FEFAB-CD4B-93AE-8D75-5B32AA2209B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73652" y="4635499"/>
            <a:ext cx="4025896" cy="274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94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330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4318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317500" y="520700"/>
            <a:ext cx="292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9715500"/>
            <a:ext cx="330200" cy="27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600" y="9779000"/>
            <a:ext cx="139700" cy="139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4000" y="9779000"/>
            <a:ext cx="139700" cy="139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8453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76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P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C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1460500"/>
            <a:ext cx="12801600" cy="1435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" y="3505200"/>
            <a:ext cx="164465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3467100" y="6451600"/>
            <a:ext cx="58801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8940800" y="6451600"/>
            <a:ext cx="58801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" y="7289800"/>
            <a:ext cx="164465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1300" y="3975100"/>
            <a:ext cx="1765300" cy="1765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5000" y="3975100"/>
            <a:ext cx="1765300" cy="1765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28700" y="3975100"/>
            <a:ext cx="1765300" cy="1765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4508500"/>
            <a:ext cx="698500" cy="698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76600" y="4483100"/>
            <a:ext cx="762000" cy="762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73200" y="4521200"/>
            <a:ext cx="863600" cy="6985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2908300" y="1612900"/>
            <a:ext cx="12458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6000" b="0" i="0" u="none" strike="noStrike" spc="-2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주요 기능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6500" y="6096000"/>
            <a:ext cx="49022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접근성 향상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53900" y="6096000"/>
            <a:ext cx="49022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데이터 기반 합리적 소비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92900" y="6096000"/>
            <a:ext cx="49022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맞춤형 견적 서비스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9200" y="7835900"/>
            <a:ext cx="48895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800" b="0" i="0" u="none" strike="noStrike" dirty="0">
                <a:solidFill>
                  <a:srgbClr val="2E2E2E"/>
                </a:solidFill>
                <a:latin typeface="Geologica Roman Light"/>
              </a:rPr>
              <a:t>“</a:t>
            </a:r>
            <a:r>
              <a:rPr lang="ko-KR" altLang="en-US" dirty="0">
                <a:solidFill>
                  <a:srgbClr val="2E2E2E"/>
                </a:solidFill>
                <a:latin typeface="Geologica Roman Light"/>
              </a:rPr>
              <a:t>초보자</a:t>
            </a:r>
            <a:r>
              <a:rPr lang="ko-KR" altLang="en-US" sz="1800" b="0" i="0" u="none" strike="noStrike" dirty="0">
                <a:solidFill>
                  <a:srgbClr val="2E2E2E"/>
                </a:solidFill>
                <a:latin typeface="Geologica Roman Light"/>
              </a:rPr>
              <a:t>도 쉽게 견적을 구성</a:t>
            </a:r>
            <a:r>
              <a:rPr lang="en-US" altLang="ko-KR" sz="1800" b="0" i="0" u="none" strike="noStrike" dirty="0">
                <a:solidFill>
                  <a:srgbClr val="2E2E2E"/>
                </a:solidFill>
                <a:latin typeface="Geologica Roman Light"/>
              </a:rPr>
              <a:t>”</a:t>
            </a:r>
          </a:p>
          <a:p>
            <a:pPr lvl="0" algn="ctr">
              <a:lnSpc>
                <a:spcPct val="116199"/>
              </a:lnSpc>
              <a:defRPr/>
            </a:pPr>
            <a:endParaRPr lang="en-US" altLang="ko-KR" sz="1800" b="0" i="0" u="none" strike="noStrike" dirty="0">
              <a:solidFill>
                <a:srgbClr val="2E2E2E"/>
              </a:solidFill>
              <a:latin typeface="Geologica Roman Light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ko-KR" altLang="en-US" sz="1800" b="0" i="0" u="none" strike="noStrike" dirty="0">
                <a:solidFill>
                  <a:srgbClr val="2E2E2E"/>
                </a:solidFill>
                <a:latin typeface="Geologica Roman Light"/>
              </a:rPr>
              <a:t>제품별 성능 지표와 </a:t>
            </a:r>
            <a:r>
              <a:rPr lang="en-US" altLang="ko-KR" sz="1800" b="0" i="0" u="none" strike="noStrike" dirty="0">
                <a:solidFill>
                  <a:srgbClr val="2E2E2E"/>
                </a:solidFill>
                <a:latin typeface="Geologica Roman Light"/>
              </a:rPr>
              <a:t>AI</a:t>
            </a:r>
            <a:r>
              <a:rPr lang="ko-KR" altLang="en-US" sz="1800" b="0" i="0" u="none" strike="noStrike" dirty="0">
                <a:solidFill>
                  <a:srgbClr val="2E2E2E"/>
                </a:solidFill>
                <a:latin typeface="Geologica Roman Light"/>
              </a:rPr>
              <a:t> </a:t>
            </a:r>
            <a:r>
              <a:rPr lang="ko-KR" altLang="en-US" sz="1800" b="0" i="0" u="none" strike="noStrike" dirty="0" err="1">
                <a:solidFill>
                  <a:srgbClr val="2E2E2E"/>
                </a:solidFill>
                <a:latin typeface="Geologica Roman Light"/>
              </a:rPr>
              <a:t>한줄평</a:t>
            </a:r>
            <a:r>
              <a:rPr lang="ko-KR" altLang="en-US" sz="1800" b="0" i="0" u="none" strike="noStrike" dirty="0">
                <a:solidFill>
                  <a:srgbClr val="2E2E2E"/>
                </a:solidFill>
                <a:latin typeface="Geologica Roman Light"/>
              </a:rPr>
              <a:t> 기능을 이용한 사용자 친화적 </a:t>
            </a:r>
            <a:r>
              <a:rPr lang="en-US" altLang="ko-KR" sz="1800" b="0" i="0" u="none" strike="noStrike" dirty="0">
                <a:solidFill>
                  <a:srgbClr val="2E2E2E"/>
                </a:solidFill>
                <a:latin typeface="Geologica Roman Light"/>
              </a:rPr>
              <a:t>PC </a:t>
            </a:r>
            <a:r>
              <a:rPr lang="ko-KR" altLang="en-US" sz="1800" b="0" i="0" u="none" strike="noStrike" dirty="0">
                <a:solidFill>
                  <a:srgbClr val="2E2E2E"/>
                </a:solidFill>
                <a:latin typeface="Geologica Roman Light"/>
              </a:rPr>
              <a:t>견적 플랫폼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66600" y="7835900"/>
            <a:ext cx="48895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8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“</a:t>
            </a:r>
            <a:r>
              <a:rPr lang="ko-KR" altLang="en-US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객관적 지표를 이용</a:t>
            </a:r>
            <a:r>
              <a:rPr lang="en-US" altLang="ko-KR" sz="18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”</a:t>
            </a:r>
          </a:p>
          <a:p>
            <a:pPr lvl="0" algn="ctr">
              <a:lnSpc>
                <a:spcPct val="116199"/>
              </a:lnSpc>
              <a:defRPr/>
            </a:pPr>
            <a:endParaRPr lang="en-US" altLang="ko-KR" sz="18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18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PassMark</a:t>
            </a:r>
            <a:r>
              <a:rPr lang="en-US" altLang="ko-KR" sz="18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, 3DMark </a:t>
            </a:r>
            <a:r>
              <a:rPr lang="ko-KR" altLang="en-US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벤치마크</a:t>
            </a:r>
            <a:r>
              <a:rPr lang="en-US" altLang="ko-KR" sz="18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점수를 이용한 성능 및 가성비 정렬 도입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92900" y="7835900"/>
            <a:ext cx="48895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8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“</a:t>
            </a:r>
            <a:r>
              <a:rPr lang="ko-KR" altLang="en-US" sz="18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나에게 꼭 맞는 견적을 </a:t>
            </a:r>
            <a:r>
              <a:rPr lang="en-US" altLang="ko-KR" sz="18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AI</a:t>
            </a:r>
            <a:r>
              <a:rPr lang="ko-KR" altLang="en-US" sz="18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 추천</a:t>
            </a:r>
            <a:r>
              <a:rPr lang="en-US" altLang="ko-KR" sz="18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”</a:t>
            </a:r>
          </a:p>
          <a:p>
            <a:pPr lvl="0" algn="ctr">
              <a:lnSpc>
                <a:spcPct val="116199"/>
              </a:lnSpc>
              <a:defRPr/>
            </a:pPr>
            <a:endParaRPr lang="en-US" altLang="ko-KR" sz="1800" b="0" i="0" u="none" strike="noStrike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18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GPT API</a:t>
            </a:r>
            <a:r>
              <a:rPr lang="ko-KR" altLang="en-US" sz="18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를 이용하여 사용자의 용도와 예산에 맞게 컴퓨터 견적을 추천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4879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0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6</a:t>
            </a:r>
          </a:p>
        </p:txBody>
      </p:sp>
      <p:sp>
        <p:nvSpPr>
          <p:cNvPr id="39" name="TextBox 24"/>
          <p:cNvSpPr txBox="1"/>
          <p:nvPr/>
        </p:nvSpPr>
        <p:spPr>
          <a:xfrm>
            <a:off x="7670800" y="304800"/>
            <a:ext cx="29591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74700"/>
              </a:lnSpc>
              <a:defRPr/>
            </a:pPr>
            <a:r>
              <a:rPr lang="en-US" altLang="ko-KR" sz="1500" b="0" i="0" u="none" strike="noStrike">
                <a:solidFill>
                  <a:srgbClr val="2E2E2E"/>
                </a:solidFill>
                <a:latin typeface="Geologica Roman Medium"/>
              </a:rPr>
              <a:t>Good Price 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0" y="0"/>
            <a:ext cx="0" cy="0"/>
            <a:chOff x="0" y="0"/>
            <a:chExt cx="914400" cy="91440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330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4318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520700"/>
            <a:ext cx="292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7500" y="9715500"/>
            <a:ext cx="330200" cy="27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56600" y="9779000"/>
            <a:ext cx="139700" cy="139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0414000" y="9779000"/>
            <a:ext cx="139700" cy="139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8453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76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P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C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743200" y="1460500"/>
            <a:ext cx="12801600" cy="1435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27100" y="3505200"/>
            <a:ext cx="164465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 rot="16200000">
            <a:off x="6191250" y="6381750"/>
            <a:ext cx="58801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2908300" y="1612900"/>
            <a:ext cx="12458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6000" b="0" i="0" u="none" strike="noStrike" spc="-2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주요 기능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3543300"/>
            <a:ext cx="8229600" cy="990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제품별 장단점과 가격 변동 추이를 한 눈에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4000" y="4572000"/>
            <a:ext cx="8229600" cy="4838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각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제품에는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성능·발열·전력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효율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등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주요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특징이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요약되어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있으며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,</a:t>
            </a: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GPT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API가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제공하는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자동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한 줄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평을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통해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제품의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성격을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쉽게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이해</a:t>
            </a: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또한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실시간으로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수집되는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데이터를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기반으로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일단위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그래프가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표시되어</a:t>
            </a:r>
            <a:r>
              <a:rPr lang="ko-KR" altLang="en-US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구매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시점에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따라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어떻게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변동하는지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직관적으로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비교</a:t>
            </a: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이를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통해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사용자는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단순히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저렴한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아닌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,</a:t>
            </a: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시간대별로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가장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합리적인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선택</a:t>
            </a:r>
            <a:r>
              <a:rPr lang="ko-KR" altLang="en-US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을 할 수 있도록 도움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4879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0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7</a:t>
            </a:r>
          </a:p>
        </p:txBody>
      </p:sp>
      <p:sp>
        <p:nvSpPr>
          <p:cNvPr id="39" name="TextBox 24"/>
          <p:cNvSpPr txBox="1"/>
          <p:nvPr/>
        </p:nvSpPr>
        <p:spPr>
          <a:xfrm>
            <a:off x="7670800" y="304800"/>
            <a:ext cx="29591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74700"/>
              </a:lnSpc>
              <a:defRPr/>
            </a:pPr>
            <a:r>
              <a:rPr lang="en-US" altLang="ko-KR" sz="1500" b="0" i="0" u="none" strike="noStrike">
                <a:solidFill>
                  <a:srgbClr val="2E2E2E"/>
                </a:solidFill>
                <a:latin typeface="Geologica Roman Medium"/>
              </a:rPr>
              <a:t>Good Price PC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6A05D34-DE58-2DF8-8740-911138C2FF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8351" y="3543300"/>
            <a:ext cx="6218459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3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0" y="0"/>
            <a:ext cx="0" cy="0"/>
            <a:chOff x="0" y="0"/>
            <a:chExt cx="914400" cy="91440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330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4318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520700"/>
            <a:ext cx="292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7500" y="9715500"/>
            <a:ext cx="330200" cy="27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56600" y="9779000"/>
            <a:ext cx="139700" cy="139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0414000" y="9779000"/>
            <a:ext cx="139700" cy="139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8453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76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P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C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940800" y="1447800"/>
            <a:ext cx="8447550" cy="1435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 flipV="1">
            <a:off x="9118600" y="3459476"/>
            <a:ext cx="8254999" cy="45719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 rot="16200000">
            <a:off x="6191250" y="6381750"/>
            <a:ext cx="58801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6935225" y="1598971"/>
            <a:ext cx="12458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6000" b="0" i="0" u="none" strike="noStrike" spc="-200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주요 기능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3543300"/>
            <a:ext cx="8229600" cy="990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en-US" altLang="ko-KR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AI</a:t>
            </a: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를 이용한 맞춤형 견적 추천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4000" y="4572000"/>
            <a:ext cx="8229600" cy="4838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맞춤형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견적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서비스는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사용자가</a:t>
            </a:r>
            <a:r>
              <a:rPr lang="ko-KR" altLang="en-US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예산과 용도를 입력하면 수천 개의 부품 데이터를 분석하여 가장 효율적인 조합을 자동으로 추천해주며 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GPT API</a:t>
            </a:r>
            <a:r>
              <a:rPr lang="ko-KR" altLang="en-US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를 이용한 견적 총평 확인 기능</a:t>
            </a:r>
          </a:p>
          <a:p>
            <a:pPr lvl="0" algn="ctr">
              <a:lnSpc>
                <a:spcPct val="116199"/>
              </a:lnSpc>
              <a:defRPr/>
            </a:pPr>
            <a:endParaRPr lang="ko-KR" altLang="en-US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ko-KR" altLang="en-US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각 부품의 </a:t>
            </a:r>
            <a:r>
              <a:rPr lang="ko-KR" altLang="en-US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성능·가격·호환성을</a:t>
            </a:r>
            <a:r>
              <a:rPr lang="ko-KR" altLang="en-US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함께 고려해, 사용자의 목적에 최적화된 구성을 제시</a:t>
            </a:r>
          </a:p>
          <a:p>
            <a:pPr lvl="0" algn="ctr">
              <a:lnSpc>
                <a:spcPct val="116199"/>
              </a:lnSpc>
              <a:defRPr/>
            </a:pPr>
            <a:endParaRPr lang="ko-KR" altLang="en-US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74879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0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8</a:t>
            </a:r>
          </a:p>
        </p:txBody>
      </p:sp>
      <p:sp>
        <p:nvSpPr>
          <p:cNvPr id="39" name="TextBox 24"/>
          <p:cNvSpPr txBox="1"/>
          <p:nvPr/>
        </p:nvSpPr>
        <p:spPr>
          <a:xfrm>
            <a:off x="7670800" y="304800"/>
            <a:ext cx="29591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74700"/>
              </a:lnSpc>
              <a:defRPr/>
            </a:pPr>
            <a:r>
              <a:rPr lang="en-US" altLang="ko-KR" sz="1500" b="0" i="0" u="none" strike="noStrike">
                <a:solidFill>
                  <a:srgbClr val="2E2E2E"/>
                </a:solidFill>
                <a:latin typeface="Geologica Roman Medium"/>
              </a:rPr>
              <a:t>Good Price PC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E2C3E41-921E-B48D-802F-9B6AD4EEDE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4605" y="990599"/>
            <a:ext cx="6443407" cy="833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3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9410700"/>
            <a:ext cx="182880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8288000" cy="87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876300"/>
            <a:ext cx="18288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653000" y="317500"/>
            <a:ext cx="330200" cy="279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0" y="0"/>
            <a:ext cx="0" cy="0"/>
            <a:chOff x="0" y="0"/>
            <a:chExt cx="914400" cy="91440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330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4318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317500" y="520700"/>
            <a:ext cx="292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7500" y="9715500"/>
            <a:ext cx="330200" cy="27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12217400" y="5130800"/>
            <a:ext cx="10287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-4216400" y="5130800"/>
            <a:ext cx="10287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9385300"/>
            <a:ext cx="18288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56600" y="9779000"/>
            <a:ext cx="139700" cy="139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0414000" y="9779000"/>
            <a:ext cx="139700" cy="139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845300" y="9702800"/>
            <a:ext cx="1282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Good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7600" y="9702800"/>
            <a:ext cx="1447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Price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P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C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743200" y="1460500"/>
            <a:ext cx="12801600" cy="1435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27100" y="3505200"/>
            <a:ext cx="164465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 rot="16200000">
            <a:off x="6191250" y="6381750"/>
            <a:ext cx="58801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2908300" y="1612900"/>
            <a:ext cx="12458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83000"/>
              </a:lnSpc>
              <a:defRPr/>
            </a:pPr>
            <a:r>
              <a:rPr lang="ko-KR" altLang="en-US" sz="6000" b="0" i="0" u="none" strike="noStrike" spc="-20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주요 기능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3543300"/>
            <a:ext cx="8229600" cy="990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2500" b="0" i="0" u="none" strike="noStrike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성능 지표를 이용한 가성비순 정렬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4000" y="4572000"/>
            <a:ext cx="8229600" cy="4838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단순히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낮은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제품을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나열하는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것이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아니라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,</a:t>
            </a: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객관적인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성능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지표를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가격과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함께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분석하여</a:t>
            </a: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성능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대비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가격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효율이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가장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높은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순으로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자동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정렬하는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기능</a:t>
            </a: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사용자는</a:t>
            </a:r>
            <a:r>
              <a:rPr lang="en-US" altLang="ko-KR" sz="2100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고가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제품보다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실질적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효율이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높은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제품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선택이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가능</a:t>
            </a: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이러한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가성비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지수는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매일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최신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데이터로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갱신되어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,</a:t>
            </a: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항상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실시간으로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최적의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선택을</a:t>
            </a:r>
            <a:r>
              <a:rPr lang="en-US" altLang="ko-KR" sz="2100" b="0" i="0" u="none" strike="noStrike" dirty="0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b="0" i="0" u="none" strike="noStrike" dirty="0" err="1">
                <a:solidFill>
                  <a:srgbClr val="2E2E2E"/>
                </a:solidFill>
                <a:latin typeface="함초롬돋움"/>
                <a:ea typeface="함초롬돋움"/>
                <a:cs typeface="함초롬돋움"/>
              </a:rPr>
              <a:t>지원</a:t>
            </a:r>
            <a:endParaRPr lang="en-US" altLang="ko-KR" sz="2100" b="0" i="0" u="none" strike="noStrike" dirty="0">
              <a:solidFill>
                <a:srgbClr val="2E2E2E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7487900" y="9702800"/>
            <a:ext cx="6477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1100"/>
              </a:lnSpc>
              <a:defRPr/>
            </a:pPr>
            <a:r>
              <a:rPr lang="en-US" sz="1600" b="0" i="0" u="none" strike="noStrike">
                <a:solidFill>
                  <a:srgbClr val="2E2E2E"/>
                </a:solidFill>
                <a:latin typeface="Geologica Roman Medium"/>
              </a:rPr>
              <a:t>0</a:t>
            </a:r>
            <a:r>
              <a:rPr lang="en-US" altLang="ko-KR" sz="1600" b="0" i="0" u="none" strike="noStrike">
                <a:solidFill>
                  <a:srgbClr val="2E2E2E"/>
                </a:solidFill>
                <a:latin typeface="Geologica Roman Medium"/>
              </a:rPr>
              <a:t>9</a:t>
            </a:r>
          </a:p>
        </p:txBody>
      </p:sp>
      <p:sp>
        <p:nvSpPr>
          <p:cNvPr id="39" name="TextBox 24"/>
          <p:cNvSpPr txBox="1"/>
          <p:nvPr/>
        </p:nvSpPr>
        <p:spPr>
          <a:xfrm>
            <a:off x="7670800" y="304800"/>
            <a:ext cx="29591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74700"/>
              </a:lnSpc>
              <a:defRPr/>
            </a:pPr>
            <a:r>
              <a:rPr lang="en-US" altLang="ko-KR" sz="1500" b="0" i="0" u="none" strike="noStrike">
                <a:solidFill>
                  <a:srgbClr val="2E2E2E"/>
                </a:solidFill>
                <a:latin typeface="Geologica Roman Medium"/>
              </a:rPr>
              <a:t>Good Price PC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CE96C2B-96AB-440C-2F7E-BC3C809CD7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019" y="3843594"/>
            <a:ext cx="8173883" cy="472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530</Words>
  <Application>Microsoft Office PowerPoint</Application>
  <PresentationFormat>사용자 지정</PresentationFormat>
  <Paragraphs>130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Geologica Roman Light</vt:lpstr>
      <vt:lpstr>Geologica Roman Medium</vt:lpstr>
      <vt:lpstr>Mattone Bold</vt:lpstr>
      <vt:lpstr>맑은 고딕</vt:lpstr>
      <vt:lpstr>함초롬돋움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고범주</dc:creator>
  <cp:lastModifiedBy>고범주</cp:lastModifiedBy>
  <cp:revision>22</cp:revision>
  <dcterms:created xsi:type="dcterms:W3CDTF">2006-08-16T00:00:00Z</dcterms:created>
  <dcterms:modified xsi:type="dcterms:W3CDTF">2026-01-24T14:26:04Z</dcterms:modified>
  <cp:version/>
</cp:coreProperties>
</file>